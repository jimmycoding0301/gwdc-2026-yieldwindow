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c73ec8745b4623" /><Relationship Type="http://schemas.openxmlformats.org/officeDocument/2006/relationships/extended-properties" Target="/docProps/app.xml" Id="Rc7121524e729444a" /><Relationship Type="http://schemas.openxmlformats.org/officeDocument/2006/relationships/officeDocument" Target="/ppt/presentation.xml" Id="R52be786b01ea4d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258c0f37854269"/>
  </p:sldMasterIdLst>
  <p:notesMasterIdLst>
    <p:notesMasterId xmlns:r="http://schemas.openxmlformats.org/officeDocument/2006/relationships" r:id="R853f55d3b28d4c47"/>
  </p:notesMasterIdLst>
  <p:sldIdLst>
    <p:sldId xmlns:r="http://schemas.openxmlformats.org/officeDocument/2006/relationships" id="256" r:id="R0a98542d82bc49d4"/>
    <p:sldId xmlns:r="http://schemas.openxmlformats.org/officeDocument/2006/relationships" id="257" r:id="Rc899bd35a95a4f6c"/>
    <p:sldId xmlns:r="http://schemas.openxmlformats.org/officeDocument/2006/relationships" id="258" r:id="R0a852c5d155b4866"/>
    <p:sldId xmlns:r="http://schemas.openxmlformats.org/officeDocument/2006/relationships" id="259" r:id="Rf35100de00044c24"/>
    <p:sldId xmlns:r="http://schemas.openxmlformats.org/officeDocument/2006/relationships" id="260" r:id="Ra7e9adcca2024dc1"/>
    <p:sldId xmlns:r="http://schemas.openxmlformats.org/officeDocument/2006/relationships" id="261" r:id="Rce0f541d9e844364"/>
    <p:sldId xmlns:r="http://schemas.openxmlformats.org/officeDocument/2006/relationships" id="262" r:id="Rd7d99a1fc48b4b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0816e84bb04eeb" /><Relationship Type="http://schemas.openxmlformats.org/officeDocument/2006/relationships/slideMaster" Target="/ppt/slideMasters/slideMaster1.xml" Id="R30258c0f37854269" /><Relationship Type="http://schemas.openxmlformats.org/officeDocument/2006/relationships/notesMaster" Target="/ppt/notesMasters/notesMaster1.xml" Id="R853f55d3b28d4c47" /><Relationship Type="http://schemas.openxmlformats.org/officeDocument/2006/relationships/presProps" Target="/ppt/presProps.xml" Id="R349b272cf3004541" /><Relationship Type="http://schemas.openxmlformats.org/officeDocument/2006/relationships/tableStyles" Target="/ppt/tableStyles.xml" Id="R558b822bd46e4264" /><Relationship Type="http://schemas.openxmlformats.org/officeDocument/2006/relationships/slide" Target="/ppt/slides/slide1.xml" Id="R0a98542d82bc49d4" /><Relationship Type="http://schemas.openxmlformats.org/officeDocument/2006/relationships/slide" Target="/ppt/slides/slide2.xml" Id="Rc899bd35a95a4f6c" /><Relationship Type="http://schemas.openxmlformats.org/officeDocument/2006/relationships/slide" Target="/ppt/slides/slide3.xml" Id="R0a852c5d155b4866" /><Relationship Type="http://schemas.openxmlformats.org/officeDocument/2006/relationships/slide" Target="/ppt/slides/slide4.xml" Id="Rf35100de00044c24" /><Relationship Type="http://schemas.openxmlformats.org/officeDocument/2006/relationships/slide" Target="/ppt/slides/slide5.xml" Id="Ra7e9adcca2024dc1" /><Relationship Type="http://schemas.openxmlformats.org/officeDocument/2006/relationships/slide" Target="/ppt/slides/slide6.xml" Id="Rce0f541d9e844364" /><Relationship Type="http://schemas.openxmlformats.org/officeDocument/2006/relationships/slide" Target="/ppt/slides/slide7.xml" Id="Rd7d99a1fc48b4b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a9339d142f46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4fce8b5d8b4958" /><Relationship Type="http://schemas.openxmlformats.org/officeDocument/2006/relationships/notesMaster" Target="/ppt/notesMasters/notesMaster1.xml" Id="R657d293e09eb4c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b278db5597485e" /><Relationship Type="http://schemas.openxmlformats.org/officeDocument/2006/relationships/notesMaster" Target="/ppt/notesMasters/notesMaster1.xml" Id="R9fd05be7cb3d4f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7e7f36782743c0" /><Relationship Type="http://schemas.openxmlformats.org/officeDocument/2006/relationships/notesMaster" Target="/ppt/notesMasters/notesMaster1.xml" Id="Rbf758d6e8cdc46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5455b6eea146db" /><Relationship Type="http://schemas.openxmlformats.org/officeDocument/2006/relationships/notesMaster" Target="/ppt/notesMasters/notesMaster1.xml" Id="R9d84b2fb1b934c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c42dddebfa4e50" /><Relationship Type="http://schemas.openxmlformats.org/officeDocument/2006/relationships/notesMaster" Target="/ppt/notesMasters/notesMaster1.xml" Id="Reb3f4d6f754d40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1a7276c4884509" /><Relationship Type="http://schemas.openxmlformats.org/officeDocument/2006/relationships/notesMaster" Target="/ppt/notesMasters/notesMaster1.xml" Id="R7dd23a8090744f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8492eccd79402b" /><Relationship Type="http://schemas.openxmlformats.org/officeDocument/2006/relationships/notesMaster" Target="/ppt/notesMasters/notesMaster1.xml" Id="R4c6b9a1b74004c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 — Team and product cover.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Screenshot: projects/tron-b/docs/preview.png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 — Product overview and current evidence boundary.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Screenshot: projects/tron-b/docs/final-desktop.jpg</a:t>
            </a:r>
          </a:p>
          <a:p xmlns:a="http://schemas.openxmlformats.org/drawingml/2006/main">
            <a:r>
              <a:t>Boundary: A separate 1 test TRX jTRX mint → redeem canary succeeded. The USDT/USDD treasury plan remains simulated.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 — Problem and solution.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Claims are product-scope statements derived from the repository README and verification record; no market-size estimate is asserted.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 — Product workflow.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Screenshot: projects/tron-b/docs/verification-desktop.png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 — Technical architecture and evidence.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Screenshot: projects/tron-b/docs/nile-receipt-desktop.png</a:t>
            </a:r>
          </a:p>
          <a:p xmlns:a="http://schemas.openxmlformats.org/drawingml/2006/main">
            <a:r>
              <a:t>Evidence status: LIVE JUSTLEND CANARY · NILE — 1 test TRX · mint + redeem SUCCESS · balance back to 0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 — Market and competitive positioning.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Comparison is qualitative and based on workflow scope. No market-size or revenue estimate is claimed.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 — Roadmap and current product boundary.</a:t>
            </a:r>
          </a:p>
          <a:p xmlns:a="http://schemas.openxmlformats.org/drawingml/2006/main">
            <a:r>
              <a:t>Repository sources: projects/tron-b/README.md; projects/tron-b/docs/verification.md; projects/tron-b/docs/nile-receipt.md.</a:t>
            </a:r>
          </a:p>
          <a:p xmlns:a="http://schemas.openxmlformats.org/drawingml/2006/main">
            <a:r>
              <a:t>Nile plan commitment: https://nile.tronscan.org/#/transaction/4adaf2cfc03e80c36533cad6024e17de463eedc2efef66da3c1873602c1fca51</a:t>
            </a:r>
          </a:p>
          <a:p xmlns:a="http://schemas.openxmlformats.org/drawingml/2006/main">
            <a:r>
              <a:t>JustLend jTRX mint (block 71389024, SUCCESS): https://nile.tronscan.org/#/transaction/9b2098a8751d002bc80ca139737db0ded3cbd64770f71644ab4520aadf30b663</a:t>
            </a:r>
          </a:p>
          <a:p xmlns:a="http://schemas.openxmlformats.org/drawingml/2006/main">
            <a:r>
              <a:t>JustLend jTRX redeemUnderlying (block 71389044, SUCCESS): https://nile.tronscan.org/#/transaction/9546eb310aa71bd514a9709b3082e4c525a744539ae6f541069b4a27d36128ff</a:t>
            </a:r>
          </a:p>
          <a:p xmlns:a="http://schemas.openxmlformats.org/drawingml/2006/main">
            <a:r>
              <a:t>Canary artifact: artifacts/tron-nile/yieldwindow-justlend-canary.json. Official JustLend V1 jTRX market: https://nile.tronscan.org/#/contract/TKM7w4qFmkXQLEF2MgrQroBYpd5TY7i1pq</a:t>
            </a:r>
          </a:p>
          <a:p xmlns:a="http://schemas.openxmlformats.org/drawingml/2006/main">
            <a:r>
              <a:t>Boundary: the live write-path canary used 1 test TRX and returned jTRX raw balance 0 → 8,946,435,518 → 0. It did not execute the USDT/USDD treasury plan.</a:t>
            </a:r>
          </a:p>
          <a:p xmlns:a="http://schemas.openxmlformats.org/drawingml/2006/main">
            <a:r>
              <a:t>Boundary: The Nile receipt uses fallback demo parameters. A separate live 1-TRX jTRX mint/redeem canary succeeded. USDT/USDD execution remains simulated.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1bf2cd6cf43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5632fdb11848fb" /><Relationship Type="http://schemas.openxmlformats.org/officeDocument/2006/relationships/slideLayout" Target="/ppt/slideLayouts/slideLayout1.xml" Id="R420cb2fae99741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0cb2fae99741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6530e205b497a" /><Relationship Type="http://schemas.openxmlformats.org/officeDocument/2006/relationships/image" Target="/ppt/media/image.jpeg" Id="R8af9b6ae138c427a" /><Relationship Type="http://schemas.openxmlformats.org/officeDocument/2006/relationships/notesSlide" Target="/ppt/notesSlides/notesSlide1.xml" Id="Rc3b20952346e4d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140439de24724" /><Relationship Type="http://schemas.openxmlformats.org/officeDocument/2006/relationships/image" Target="/ppt/media/image2.jpeg" Id="Ra112616490474ab9" /><Relationship Type="http://schemas.openxmlformats.org/officeDocument/2006/relationships/notesSlide" Target="/ppt/notesSlides/notesSlide2.xml" Id="Rcf96b74b77274d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5f065de5644af" /><Relationship Type="http://schemas.openxmlformats.org/officeDocument/2006/relationships/notesSlide" Target="/ppt/notesSlides/notesSlide3.xml" Id="R870ec52bcc954e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d7dca568144c8" /><Relationship Type="http://schemas.openxmlformats.org/officeDocument/2006/relationships/image" Target="/ppt/media/image3.jpeg" Id="R018576de01c24634" /><Relationship Type="http://schemas.openxmlformats.org/officeDocument/2006/relationships/notesSlide" Target="/ppt/notesSlides/notesSlide4.xml" Id="R16735baa0b1142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09e1b5de84ed2" /><Relationship Type="http://schemas.openxmlformats.org/officeDocument/2006/relationships/image" Target="/ppt/media/image.png" Id="Rb8597a12cc2847f4" /><Relationship Type="http://schemas.openxmlformats.org/officeDocument/2006/relationships/notesSlide" Target="/ppt/notesSlides/notesSlide5.xml" Id="R5dd3f7fee2a247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6424aaf1e4d80" /><Relationship Type="http://schemas.openxmlformats.org/officeDocument/2006/relationships/notesSlide" Target="/ppt/notesSlides/notesSlide6.xml" Id="R679968f0b8bb45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bcd0883f04ac2" /><Relationship Type="http://schemas.openxmlformats.org/officeDocument/2006/relationships/notesSlide" Target="/ppt/notesSlides/notesSlide7.xml" Id="R33e2ffebc8fa4d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F3ABF-F977-4F12-AEA6-E900BE7F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657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E20A6-A452-4E78-B961-D7AE3768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ADA4-AB12-4DF5-AD65-DA56990F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TRON CHALLENGE B · DEFI YIELD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7965D-489E-4F65-BE29-4C1BE597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Protect the bill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before chasing yield.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930A2-544A-47B7-B79E-CFDD98F1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4324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Liquidity-aware yield planning for stablecoin operators.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9FABE-85C2-4DF1-87AA-5C00ADED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133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9525">
            <a:solidFill>
              <a:srgbClr val="D63A3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C5E42-3D1C-4F66-AFF1-4BD6ADF2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SOLO BUILDER / TEAM 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449F5-ADD2-4D43-928E-E3A446E2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GWDC 2026 KOREA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76DAC-9847-4D92-96C6-E4B99A4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90550"/>
            <a:ext cx="5524500" cy="56769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9b6ae138c427a"/>
          <a:srcRect xmlns:a="http://schemas.openxmlformats.org/drawingml/2006/main" l="10000" t="8000" r="2000" b="3000"/>
          <a:stretch xmlns:a="http://schemas.openxmlformats.org/drawingml/2006/main"/>
        </p:blipFill>
        <p:spPr>
          <a:xfrm xmlns:a="http://schemas.openxmlformats.org/drawingml/2006/main">
            <a:off x="6096000" y="609600"/>
            <a:ext cx="5486400" cy="5638800"/>
          </a:xfrm>
          <a:prstGeom xmlns:a="http://schemas.openxmlformats.org/drawingml/2006/main" prst="roundRect">
            <a:avLst>
              <a:gd name="adj" fmla="val 277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047B1-7752-41F5-A224-17B82280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91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PRODUCT CAPTURE</a:t>
            </a:r>
          </a:p>
        </p:txBody>
      </p:sp>
    </p:spTree>
    <p:extLst>
      <p:ext uri="{BB962C8B-B14F-4D97-AF65-F5344CB8AC3E}">
        <p14:creationId xmlns:p14="http://schemas.microsoft.com/office/powerpoint/2010/main" val="7622306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D46FD4-A47F-4407-8197-612AE7C8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C0D30-CCA1-4185-9977-20A14A69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6931A-278B-4A0D-B5BC-FED41FDF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8EB39-F665-46C0-8C70-D8C5B94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1E49A-81B5-4126-9C8C-5C441E8D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005B95-FDAC-4533-B4F9-9635CBB1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02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61E25C-9EBB-4206-BEBD-1DEA77C7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 due date becomes the first portfolio constraint.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353814-17C6-4830-B64D-1895CBBE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preserves near-term operating cash, compares multiple allocation plans, and keeps the original assumptions visible as rates and balances 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0B0B5-0235-4FB1-AD74-F3051C97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6648450" cy="3467100"/>
          </a:xfrm>
          <a:prstGeom xmlns:a="http://schemas.openxmlformats.org/drawingml/2006/main" prst="roundRect">
            <a:avLst>
              <a:gd name="adj" fmla="val 4945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2616490474ab9"/>
          <a:srcRect xmlns:a="http://schemas.openxmlformats.org/drawingml/2006/main" l="0" t="2000" r="0" b="73000"/>
          <a:stretch xmlns:a="http://schemas.openxmlformats.org/drawingml/2006/main"/>
        </p:blipFill>
        <p:spPr>
          <a:xfrm xmlns:a="http://schemas.openxmlformats.org/drawingml/2006/main">
            <a:off x="609600" y="2133600"/>
            <a:ext cx="6610350" cy="34290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C5412-A88E-4EF1-9759-70E24CC5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WORKING PRODUCT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82EEE-1394-4EF9-AD85-79CD2B7E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336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98CFA4-168A-49C4-A068-51F77F8E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479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66CB0F-E17C-4647-821F-E15E0D00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145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stablecoin tracks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7F4BD-E4D7-4594-B493-7718D74F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527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D7FA7A-1486-485D-A468-FDC8494A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670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2+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85A25-487F-4FAC-B269-8BAB2734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337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plan alternatives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69C583-A19B-40DD-B66E-25EBB9FA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719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B3F35F-8BD7-48E1-9D29-DEC11746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B9060-6679-48DE-A511-DCBBCF75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528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Nile plan receipt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6B07CD-A044-45ED-9245-55593FE2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39052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B588AB-C4A6-4FD0-9D62-E13CED45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244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ACB2C5-E8CA-46F2-82FA-8CADA55E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53000"/>
            <a:ext cx="3486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separate 1 test TRX jTRX mint → redeem canary succeeded. The USDT/USDD treasury plan remains simulated.</a:t>
            </a:r>
          </a:p>
        </p:txBody>
      </p:sp>
    </p:spTree>
    <p:extLst>
      <p:ext uri="{BB962C8B-B14F-4D97-AF65-F5344CB8AC3E}">
        <p14:creationId xmlns:p14="http://schemas.microsoft.com/office/powerpoint/2010/main" val="858816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82C1A7-1D99-47E6-8A07-891BC5EF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60846-D59E-4FEC-B030-EDA69AC6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382A3A-93D6-4821-A733-1E0192E0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PROBLEM + 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BB0EF-895D-43A9-A106-A1C66E95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9B8F2-0335-4086-84B5-B4DFA2DB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AE812-42E5-450F-A58C-F1A69EA5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03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DBEA9-DE5E-479A-8E14-AA3679F2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5162550" cy="5219700"/>
          </a:xfrm>
          <a:prstGeom xmlns:a="http://schemas.openxmlformats.org/drawingml/2006/main" prst="roundRect">
            <a:avLst>
              <a:gd name="adj" fmla="val 3321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C7E6A-FA93-460C-B74F-5918BC62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THE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49F1D-1238-4EE4-92CE-C363F58A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43243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28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highest APY is irrelevant if Friday’s settlement cash is locked.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39AED-AACB-4559-BF39-26EAC978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554796-E2FC-4746-85A9-4308ACF9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8615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Yield screens start with return, not obligations.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6E770-6E78-439F-9159-AE2C3F72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639C1-A3B0-431F-B1CB-49D016EA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9100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Liquidity assumptions disappear once a plan is executed.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95DD9-EED3-4CE0-80EE-111B1BB1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F2602-A915-4B51-9540-98ADF94B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9585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Changing rates can silently invalidate yesterday’s allocation.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69BE18-9C6A-4D80-861D-D4B546FD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1239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THE SOLUTION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65DEA-D871-4DAA-B375-3919E166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62100"/>
            <a:ext cx="5048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Plan from the liability backward.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0BCAE-A248-41C2-BFB7-B8440F8C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09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E69CC-1EBD-4F28-AD50-89761464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384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95B5D8-C69E-4E67-ADAE-444CB173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194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Reserve dated obligations before considering yield.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DB2C9B-1738-49C7-9C80-64B5F72B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DAC4A-71B3-4360-9BEB-A95B0968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00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8A7380-D3E0-4E0B-A7D9-4A69289F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290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6BE7BE-0131-4433-8154-5E9BA481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100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Compare conservative and higher-yield alternatives side by side.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D1F1E5-85C3-4063-A669-4516599D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8630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4A5342-7142-4D0F-8E82-B71E687A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91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9525">
            <a:solidFill>
              <a:srgbClr val="D63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F661D1-3B0D-4C3D-B719-9078DC36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196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879F2A-2B7D-4B2F-99EF-D717572D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006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Track drift against the original snapshot before any rebalance.</a:t>
            </a:r>
          </a:p>
        </p:txBody>
      </p:sp>
    </p:spTree>
    <p:extLst>
      <p:ext uri="{BB962C8B-B14F-4D97-AF65-F5344CB8AC3E}">
        <p14:creationId xmlns:p14="http://schemas.microsoft.com/office/powerpoint/2010/main" val="1011587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7F5AA0-3009-4321-96A0-3A2B2052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F6E64-7CCE-4BB1-85E0-A08D40E2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DBD9E-7A7F-4C65-81F2-157E28C6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PRODUCT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7A3F7-149D-408B-ACAE-CA33C241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D2A77-0437-44A1-BF74-F3E5FD0F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6CCDC-2B8B-429A-9306-E5D4C349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04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23E8C0-63EE-4D47-B0D6-89484D4F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Intent, alternatives, consent, follow-through.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50502F-C0CD-4464-ABE9-0CABD97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Each handoff preserves the data needed for review, replay and recovery.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F3E49-62EC-4B0A-ADF3-BDEDD449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610350" cy="3752850"/>
          </a:xfrm>
          <a:prstGeom xmlns:a="http://schemas.openxmlformats.org/drawingml/2006/main" prst="roundRect">
            <a:avLst>
              <a:gd name="adj" fmla="val 4569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576de01c24634"/>
          <a:srcRect xmlns:a="http://schemas.openxmlformats.org/drawingml/2006/main" l="4000" t="30000" r="4000" b="38000"/>
          <a:stretch xmlns:a="http://schemas.openxmlformats.org/drawingml/2006/main"/>
        </p:blipFill>
        <p:spPr>
          <a:xfrm xmlns:a="http://schemas.openxmlformats.org/drawingml/2006/main">
            <a:off x="609600" y="2114550"/>
            <a:ext cx="6572250" cy="37147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55BE5-58F7-4779-8321-09112ABD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0C4526-4C2C-45C3-A8C2-23342C33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14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ORIGINAL ASSUMPTIONS REMAIN VISIBLE DURING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4F9283-24C7-4F67-92DD-3E8BDDE5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17565-EF74-4802-8CFF-F0AB0780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Obligations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69340-323E-47BE-927E-567EF1B3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Capture due dates, amounts, assets and liquidity rules.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7DD5C-81CB-4FA3-AD37-EAE7B471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9085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1F6D4-EA5E-4AEE-9E65-FD392002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67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18F2C6-A396-4E6F-B4C5-27856C7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Snapshots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DBC8F-7AFA-4FB3-B9CE-0042EDCD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718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Read JustLend and USDD market inputs.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97FC8B-2B79-43B0-971C-D720F7DC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2430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E8B2A0-1EDC-4649-BB3A-E402429D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005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886816-367D-4068-B261-F6EFD1E3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Plans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23866C-DE40-4AAF-A267-1D66CDD7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053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Compare reserves, yield and downside assumptions.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BBAE36-4619-49B0-82E3-A5A55777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5775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6CB2E1-51D0-4776-90BF-1E728804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339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AB94A4-4415-4D66-92DD-5ADD2F7C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14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Track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AEA26A-E052-4D43-AC12-F48C19B9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387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Revisit the saved plan as rates and balances move.</a:t>
            </a:r>
          </a:p>
        </p:txBody>
      </p:sp>
    </p:spTree>
    <p:extLst>
      <p:ext uri="{BB962C8B-B14F-4D97-AF65-F5344CB8AC3E}">
        <p14:creationId xmlns:p14="http://schemas.microsoft.com/office/powerpoint/2010/main" val="2075201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6AAEE3-DD14-43A7-AF6F-6D8F034F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1D2EA-E6BB-4EFF-B302-332F795B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D1BDD-4359-45F7-9211-643BE4D2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TECHNICAL HIGHLIGHTS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1BD13-2448-45AF-AF75-3856335D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71E4F4-38E7-4034-A857-E41E316F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D7254-3C1A-448C-9007-1A7BB858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05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F13A5-70AB-4840-981A-6AFC7141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Plan execution is gated; the jTRX canary is live.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E8899-DDE5-4B96-9CF7-0915542F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A compact architecture makes every trust boundary visible.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9B55D-EB38-4FDD-9D02-8EFCD457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67641-2607-4532-823D-739A045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Qwen-assisted intake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D7B1FE-0029-4ECA-AE26-B4D57473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C2D91-C57C-44A9-8AFC-D4D61E93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BE232-7274-4A53-8EAD-6DC7DACB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Official market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31F75-DEAC-4060-87A3-6AF63071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F8C2D-EC3D-44D7-8CB6-7E6F0B97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94B-2831-4426-8FDE-2112BC81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Constraint engine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01870-E6DB-4C2D-B4ED-B4B2E372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D055BD-CE57-46A5-A16C-0A271FF6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2143125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34F226-3435-4B1D-8527-4E326F3A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52650"/>
            <a:ext cx="18383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Receipt + jTRX canary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02E81B-6796-4359-AA0F-5B7D4DCB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23875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F27455-DBE2-4979-B979-EB5B08B8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WHY IT HOLDS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5F3DA5-D6F5-4EB7-A696-A266EFB5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D2BE6-2A1C-4532-B109-4047AB43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Every plan shows reserves, allocation and liquidity assumptions.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761F1B-A58F-4A5F-9A83-32FAB31A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1FEA38-01AA-46F1-B1A8-7E9A6A36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624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JustLend V1 mint block 71,389,024 and redeem block 71,389,044 both succeeded.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C7B2A3-AF95-4541-9A2E-C0559231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76F097-8029-47CA-8281-271B19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01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jTRX raw 0 → 8,946,435,518 → 0; this did not execute the USDT/USDD plan.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C96F48-6C0E-45DB-B76E-44FF8290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67050"/>
            <a:ext cx="5391150" cy="2724150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97a12cc2847f4"/>
          <a:srcRect xmlns:a="http://schemas.openxmlformats.org/drawingml/2006/main" l="0" t="55000" r="0" b="14000"/>
          <a:stretch xmlns:a="http://schemas.openxmlformats.org/drawingml/2006/main"/>
        </p:blipFill>
        <p:spPr>
          <a:xfrm xmlns:a="http://schemas.openxmlformats.org/drawingml/2006/main">
            <a:off x="6229350" y="3086100"/>
            <a:ext cx="5353050" cy="2686050"/>
          </a:xfrm>
          <a:prstGeom xmlns:a="http://schemas.openxmlformats.org/drawingml/2006/main" prst="roundRect">
            <a:avLst>
              <a:gd name="adj" fmla="val 5674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C5F775-EB20-4E85-A6CF-C7A047F2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4972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0AF4C9-7F99-411E-89E3-16836F5A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71850"/>
            <a:ext cx="464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LIVE JUSTLEND CANARY · NILE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E57B2B-97C3-4D1A-B887-AC3C6C3D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00450"/>
            <a:ext cx="464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 test TRX · mint + redeem SUCCESS · balance back to 0</a:t>
            </a:r>
          </a:p>
        </p:txBody>
      </p:sp>
    </p:spTree>
    <p:extLst>
      <p:ext uri="{BB962C8B-B14F-4D97-AF65-F5344CB8AC3E}">
        <p14:creationId xmlns:p14="http://schemas.microsoft.com/office/powerpoint/2010/main" val="19730698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471A47-A891-45DF-A9BA-B69E27F4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151EC-F840-4FB9-A638-BC144867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79892-6DF0-42B1-A237-EA8B45DC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MARKET + COMPETITION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F1623-8B8F-41A8-86FE-1F3E3851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42747-DAAD-4A52-9FC7-1A2A3EFC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27777-F8C9-4A87-BD3C-CBC6128A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06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2ACE7-25B9-47E5-9632-F2B3E06F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 narrow wedge in an existing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988472-A228-42F6-8B76-C37829D1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A consent-first planning layer between yield discovery and execution.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27BB2-F3D3-483A-AA80-C2D786F5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952750" cy="895350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8942D-38ED-4AC0-A50B-2D1CE5BA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PRIMARY 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591FA-F589-4DFF-9F16-DD263C67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Stablecoin treasurers and small operating teams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6A698-F519-48D0-89BF-10E0A0E4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952750" cy="1333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F32F3-1A4B-49AC-8000-B25C30E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BUYING TRIGGER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D448B3-23FD-4BB7-83F1-658A086B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2552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 known payment date with idle cash in the same window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873FC-B753-487F-A695-CF1AD027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240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CURRENT OPTION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15B58B-811A-48DD-AFB1-EFCD12BC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240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WHAT IT DOES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8A433-B998-482D-A639-BD17E513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240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WHERE WE 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0145E-B601-43F8-B691-04C009F8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907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781E3-0E49-43D5-BA2C-4EAC7C44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 dashboard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177898-3873-468A-91E8-4E97C419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526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Surfaces rates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FC6EA-976E-4284-916B-44F8000E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526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Weak liability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43A30A-7059-429E-AB53-32687243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670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29B20D-1233-4B42-874F-E85B762F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Auto-yield bot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58DC86-EC06-4078-BC95-01AE28FB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289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Moves capital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810681-FED2-4456-B08E-576D9B9C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289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Opaque trade-offs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EDDBC5-0A75-4B46-8E63-655E9930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433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BE50EB-E0D9-4113-A595-B7865E9A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052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Spreadsheet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057E-C647-49E7-9BD7-B9B3A8FC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052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Models obligations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FF5291-D164-4B32-97C9-1BC335DC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052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Manual market refresh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6667E1-0C2F-411A-A376-CCD56B8D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487E0C-F0BC-4BA9-950D-B147EC9A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815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3C17AB-F5AA-483B-94BA-766305A7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815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Preserves dated liquidity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A7E9E5-ECFB-4A66-A064-E1106163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9815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Plans before execution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DC6B1C-B237-4AC3-BB6D-63F266F4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95275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DE28D0-C57E-4587-B0F7-26F75D0E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ENTRY WEDGE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070DB8-9CB6-49CC-A20B-45A6BA02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91125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consent-first planning layer between yield discovery and execution.</a:t>
            </a:r>
          </a:p>
        </p:txBody>
      </p:sp>
    </p:spTree>
    <p:extLst>
      <p:ext uri="{BB962C8B-B14F-4D97-AF65-F5344CB8AC3E}">
        <p14:creationId xmlns:p14="http://schemas.microsoft.com/office/powerpoint/2010/main" val="8427293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8F5EBA8-CB05-4DC9-8003-F4DBDA0C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8C682-DBD5-4C19-93F4-C08AB9BD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YIELDWINDOW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CA464-A124-4D7E-A20B-A44C2BA3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3F9F5-57D2-4517-8407-CBDDDCEE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D1D635-AD06-4988-A149-A558A77B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YIELDWINDOW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42574-33FA-47AD-9450-57E65B17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07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1007B-DDA8-44CA-8750-1A50A766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Ship the missing proof, then scale.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24154-E571-4478-BCBE-F9E1193A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The next milestone closes the current evidence gap before expanding product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9FE0E-A730-4A10-8CA1-68EEF5EA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8A779-D484-4278-A98D-8530FB41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89D4A7-3111-49AD-B313-2697CAA2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WORKING PROTOTYPE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338FD-EFA2-4E0F-B5BA-A2564F4D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010B67-3906-45E9-8ECD-1C6578B1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Labeled fallback demo parameters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1A8B39-B62D-41EC-898C-2440970B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220B50-60B9-487C-A5B1-EF3A73C7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Nile plan commitment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9BA01-1AE7-4D06-BF39-66D722A2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EFEC5-651C-4E61-8443-9A0A2422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Live 1-TRX jTRX mint + redeem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1E419E-AB56-485C-8374-714B7F66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98D3B-B8DF-483C-B798-5F5D533B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359C0-EAE4-497A-8A24-2BE5FF66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EVIDENCE MILESTONE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2ABB68-0A3E-4D3D-A756-9E9B5C97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D316F6-43F6-442B-BC53-88240953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Read-only wallet balances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C99BF-8B6B-4118-A535-6C74E8D3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700646-2D09-494B-B65A-84A19FE6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USDT/USDD position reads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C9F61-A62C-48A8-8D1A-775E5525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C2F1A3-E244-4921-9167-7437E568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Plan-scoped signed testnet execution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6D4ECD-F914-4AF5-BC09-A8C4DCA4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3CD02B-E11A-40C7-846A-6F67615B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LATER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A91A07-42C4-4603-995E-5CAEE9A8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565763-35B7-43DB-80CB-F43AAD03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757D3D-3F26-4086-94CD-7C7F2EB5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Policy-based rebalancing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FF9C75-6A4F-4047-9F10-7695CC95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6EBB73-A69A-4FD1-B01E-71464F56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More lending venues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E6D7EB-236A-4DF1-8135-492987C8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5799A1-49AB-4C95-A1AC-EC5D1D13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Treasury audit 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CF5A43-582B-44B6-B2F5-7674E316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918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862B76-A5CF-469A-A464-85DDE0BE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TRUTHFUL BOUNDARY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0C35B-EC51-40FA-BFBE-79C9596C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438775"/>
            <a:ext cx="8496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Nile receipt uses fallback demo parameters. A separate live 1-TRX jTRX mint/redeem canary succeeded. USDT/USDD execution remains simulated.</a:t>
            </a:r>
          </a:p>
        </p:txBody>
      </p:sp>
    </p:spTree>
    <p:extLst>
      <p:ext uri="{BB962C8B-B14F-4D97-AF65-F5344CB8AC3E}">
        <p14:creationId xmlns:p14="http://schemas.microsoft.com/office/powerpoint/2010/main" val="7853385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2026-09-29T16:13:03.5650000Z</dcterms:created>
  <dcterms:modified xsi:type="dcterms:W3CDTF">2026-09-29T16:13:03.5650000Z</dcterms:modified>
</coreProperties>
</file>